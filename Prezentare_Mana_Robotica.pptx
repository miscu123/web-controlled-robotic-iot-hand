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11A3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344-4B94-9230-BC5C5E83D4C6}"/>
              </c:ext>
            </c:extLst>
          </c:dPt>
          <c:dPt>
            <c:idx val="1"/>
            <c:invertIfNegative val="0"/>
            <c:bubble3D val="0"/>
            <c:spPr>
              <a:solidFill>
                <a:srgbClr val="0B7E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344-4B94-9230-BC5C5E83D4C6}"/>
              </c:ext>
            </c:extLst>
          </c:dPt>
          <c:dPt>
            <c:idx val="2"/>
            <c:invertIfNegative val="0"/>
            <c:bubble3D val="0"/>
            <c:spPr>
              <a:solidFill>
                <a:srgbClr val="C2CC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344-4B94-9230-BC5C5E83D4C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E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/finger</c:v>
                </c:pt>
                <c:pt idx="1">
                  <c:v>/gesture</c:v>
                </c:pt>
                <c:pt idx="2">
                  <c:v>prag uman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30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344-4B94-9230-BC5C5E83D4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6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7149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47487-48BC-ADE1-D929-787C0FF2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F25F2D-40E6-4EBE-A395-58713D823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F5120-6AAB-D813-8791-5FCA4A0C7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5621F-7631-99D2-3CD8-6899E44480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66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11F3B-FC60-DDA1-304D-41F165207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0DB6CA-4AB6-FD0A-49EA-783C29C5E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95102C-B1A7-D154-D765-FECCE0CBF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1AC3E-2C1D-CF4B-DB21-0DF1873E24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27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05840" y="-1005840"/>
            <a:ext cx="2377440" cy="2377440"/>
          </a:xfrm>
          <a:prstGeom prst="ellipse">
            <a:avLst/>
          </a:prstGeom>
          <a:solidFill>
            <a:srgbClr val="162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705295" y="1647963"/>
            <a:ext cx="5038344" cy="3836395"/>
          </a:xfrm>
          <a:prstGeom prst="roundRect">
            <a:avLst>
              <a:gd name="adj" fmla="val 2860"/>
            </a:avLst>
          </a:prstGeom>
          <a:solidFill>
            <a:srgbClr val="16293C"/>
          </a:solidFill>
          <a:ln w="19050">
            <a:solidFill>
              <a:srgbClr val="11A39A"/>
            </a:solidFill>
            <a:prstDash val="solid"/>
          </a:ln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C:\Users\Lenovo\Documents\Web-Controller-Robotic-Hand\data\resources\Hand_model_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167" y="1766835"/>
            <a:ext cx="4800600" cy="35986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05295" y="5530077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Prototip: mana + antebrat printate 3D, 6× </a:t>
            </a:r>
            <a:r>
              <a:rPr lang="en-US" sz="950" i="1" dirty="0" err="1">
                <a:solidFill>
                  <a:srgbClr val="8F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servomotoare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77240" y="1417320"/>
            <a:ext cx="6126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 robotica controlata</a:t>
            </a:r>
            <a:endParaRPr lang="en-US" sz="33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printr-o aplicatie web in timp real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777240" y="34290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Proiectarea si implementarea unui sistem integrat hardware–software pe ESP32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95528" y="4297680"/>
            <a:ext cx="1828800" cy="0"/>
          </a:xfrm>
          <a:prstGeom prst="line">
            <a:avLst/>
          </a:prstGeom>
          <a:noFill/>
          <a:ln w="31750">
            <a:solidFill>
              <a:srgbClr val="E87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" y="45262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8F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Absolvent: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Mihai Albu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8F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Coordonator stiintific: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Lector univ. dr. Maria Flori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F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Lucrare de licenta  ·  Informatica  ·  2026</a:t>
            </a:r>
            <a:endParaRPr lang="en-US" sz="13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343C5EC-76F2-2653-D24D-78AF67C60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950" y="312420"/>
            <a:ext cx="35941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B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SCOPUL LUCRARII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 err="1">
                <a:solidFill>
                  <a:srgbClr val="0E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Scopul</a:t>
            </a:r>
            <a:r>
              <a:rPr lang="en-US" sz="3200" b="1" dirty="0">
                <a:solidFill>
                  <a:srgbClr val="0E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200" b="1" dirty="0" err="1">
                <a:solidFill>
                  <a:srgbClr val="0E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temei</a:t>
            </a:r>
            <a:endParaRPr lang="en-US" sz="3200" dirty="0"/>
          </a:p>
        </p:txBody>
      </p:sp>
      <p:sp>
        <p:nvSpPr>
          <p:cNvPr id="30" name="Text Lead"/>
          <p:cNvSpPr/>
          <p:nvPr/>
        </p:nvSpPr>
        <p:spPr>
          <a:xfrm>
            <a:off x="640080" y="1783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Proiectarea si implementarea unui sistem integrat hardware-software care controleaza o mana robotica cu cinci grade de libertate, printr-o interfata web accesibila din orice browser, cu raspuns in timp real si fara instalarea unei aplicatii dedicate.</a:t>
            </a:r>
            <a:endParaRPr lang="en-US" sz="1700" dirty="0"/>
          </a:p>
        </p:txBody>
      </p:sp>
      <p:sp>
        <p:nvSpPr>
          <p:cNvPr id="31" name="Shape Circle 1"/>
          <p:cNvSpPr/>
          <p:nvPr/>
        </p:nvSpPr>
        <p:spPr>
          <a:xfrm>
            <a:off x="2033016" y="3063240"/>
            <a:ext cx="566928" cy="566928"/>
          </a:xfrm>
          <a:prstGeom prst="ellipse">
            <a:avLst/>
          </a:prstGeom>
          <a:solidFill>
            <a:srgbClr val="0E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Num 1"/>
          <p:cNvSpPr/>
          <p:nvPr/>
        </p:nvSpPr>
        <p:spPr>
          <a:xfrm>
            <a:off x="2033016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FE9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33" name="Text Title 1"/>
          <p:cNvSpPr/>
          <p:nvPr/>
        </p:nvSpPr>
        <p:spPr>
          <a:xfrm>
            <a:off x="640080" y="3767328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precis, deget cu deget</a:t>
            </a:r>
            <a:endParaRPr lang="en-US" sz="1500" dirty="0"/>
          </a:p>
        </p:txBody>
      </p:sp>
      <p:sp>
        <p:nvSpPr>
          <p:cNvPr id="34" name="Text Desc 1"/>
          <p:cNvSpPr/>
          <p:nvPr/>
        </p:nvSpPr>
        <p:spPr>
          <a:xfrm>
            <a:off x="640080" y="4290440"/>
            <a:ext cx="335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deget este actionat independent printr-un servomotor dedicat, cu o rezolutie unghiulara minima de 1°.</a:t>
            </a:r>
            <a:endParaRPr lang="en-US" sz="1250" dirty="0"/>
          </a:p>
        </p:txBody>
      </p:sp>
      <p:sp>
        <p:nvSpPr>
          <p:cNvPr id="35" name="Shape Circle 2"/>
          <p:cNvSpPr/>
          <p:nvPr/>
        </p:nvSpPr>
        <p:spPr>
          <a:xfrm>
            <a:off x="5843016" y="3063240"/>
            <a:ext cx="566928" cy="566928"/>
          </a:xfrm>
          <a:prstGeom prst="ellipse">
            <a:avLst/>
          </a:prstGeom>
          <a:solidFill>
            <a:srgbClr val="0E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Num 2"/>
          <p:cNvSpPr/>
          <p:nvPr/>
        </p:nvSpPr>
        <p:spPr>
          <a:xfrm>
            <a:off x="5843016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FE9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37" name="Text Title 2"/>
          <p:cNvSpPr/>
          <p:nvPr/>
        </p:nvSpPr>
        <p:spPr>
          <a:xfrm>
            <a:off x="4450080" y="3767328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Comunicare in timp real</a:t>
            </a:r>
            <a:endParaRPr lang="en-US" sz="1500" dirty="0"/>
          </a:p>
        </p:txBody>
      </p:sp>
      <p:sp>
        <p:nvSpPr>
          <p:cNvPr id="38" name="Text Desc 2"/>
          <p:cNvSpPr/>
          <p:nvPr/>
        </p:nvSpPr>
        <p:spPr>
          <a:xfrm>
            <a:off x="4450080" y="4290440"/>
            <a:ext cx="335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web asincron pe ESP32, cu latente end-to-end de 10-30 ms, sub pragul de perceptie umana.</a:t>
            </a:r>
            <a:endParaRPr lang="en-US" sz="1250" dirty="0"/>
          </a:p>
        </p:txBody>
      </p:sp>
      <p:sp>
        <p:nvSpPr>
          <p:cNvPr id="39" name="Shape Circle 3"/>
          <p:cNvSpPr/>
          <p:nvPr/>
        </p:nvSpPr>
        <p:spPr>
          <a:xfrm>
            <a:off x="9653016" y="3063240"/>
            <a:ext cx="566928" cy="566928"/>
          </a:xfrm>
          <a:prstGeom prst="ellipse">
            <a:avLst/>
          </a:prstGeom>
          <a:solidFill>
            <a:srgbClr val="0E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Num 3"/>
          <p:cNvSpPr/>
          <p:nvPr/>
        </p:nvSpPr>
        <p:spPr>
          <a:xfrm>
            <a:off x="9653016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FE9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41" name="Text Title 3"/>
          <p:cNvSpPr/>
          <p:nvPr/>
        </p:nvSpPr>
        <p:spPr>
          <a:xfrm>
            <a:off x="8260080" y="3767328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robusta si scalabila</a:t>
            </a:r>
            <a:endParaRPr lang="en-US" sz="1500" dirty="0"/>
          </a:p>
        </p:txBody>
      </p:sp>
      <p:sp>
        <p:nvSpPr>
          <p:cNvPr id="42" name="Text Desc 3"/>
          <p:cNvSpPr/>
          <p:nvPr/>
        </p:nvSpPr>
        <p:spPr>
          <a:xfrm>
            <a:off x="8260080" y="4290440"/>
            <a:ext cx="335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Separare dual-core si masina de stari (FSM) non-blocanta, pregatita pentru extinderi (senzori, EMG, control AI).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robotica controlata web  ·  Mihai Albu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71FC3-8B42-EA48-7E64-82B769EFD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5A29F5E-ADF7-61E2-9D60-BA1673F6A1E6}"/>
              </a:ext>
            </a:extLst>
          </p:cNvPr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B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ACEASTA TEMA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6A6D5A-4BE1-57E5-55AE-8200236DFF3A}"/>
              </a:ext>
            </a:extLst>
          </p:cNvPr>
          <p:cNvSpPr/>
          <p:nvPr/>
        </p:nvSpPr>
        <p:spPr>
          <a:xfrm>
            <a:off x="640080" y="76809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Motivatia alegerii temei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675F717-6A1C-50B0-AA7D-20D01822E6AD}"/>
              </a:ext>
            </a:extLst>
          </p:cNvPr>
          <p:cNvSpPr/>
          <p:nvPr/>
        </p:nvSpPr>
        <p:spPr>
          <a:xfrm>
            <a:off x="640080" y="1874520"/>
            <a:ext cx="4572000" cy="3977640"/>
          </a:xfrm>
          <a:prstGeom prst="roundRect">
            <a:avLst>
              <a:gd name="adj" fmla="val 2069"/>
            </a:avLst>
          </a:prstGeom>
          <a:solidFill>
            <a:srgbClr val="11A39A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C622931-AE25-E4CB-2EC3-EEBC3BB942C6}"/>
              </a:ext>
            </a:extLst>
          </p:cNvPr>
          <p:cNvSpPr/>
          <p:nvPr/>
        </p:nvSpPr>
        <p:spPr>
          <a:xfrm>
            <a:off x="777240" y="1783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BFE9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A30002-104E-087F-AF3C-0AB5BE3B6324}"/>
              </a:ext>
            </a:extLst>
          </p:cNvPr>
          <p:cNvSpPr/>
          <p:nvPr/>
        </p:nvSpPr>
        <p:spPr>
          <a:xfrm>
            <a:off x="1051560" y="269748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Multe proiecte se concentreaza pe hardware, dar neglijeaza software-ul — la fel de important, daca nu chiar mai important.</a:t>
            </a: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012960B-373C-7F8D-F399-2D5BEF6E6DEB}"/>
              </a:ext>
            </a:extLst>
          </p:cNvPr>
          <p:cNvSpPr/>
          <p:nvPr/>
        </p:nvSpPr>
        <p:spPr>
          <a:xfrm>
            <a:off x="1051560" y="5074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observatia care a definit directia proiectului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B757157-D6F7-A6B1-A997-DF52BC2F9509}"/>
              </a:ext>
            </a:extLst>
          </p:cNvPr>
          <p:cNvSpPr/>
          <p:nvPr/>
        </p:nvSpPr>
        <p:spPr>
          <a:xfrm>
            <a:off x="5715000" y="1920240"/>
            <a:ext cx="566928" cy="566928"/>
          </a:xfrm>
          <a:prstGeom prst="ellipse">
            <a:avLst/>
          </a:prstGeom>
          <a:solidFill>
            <a:srgbClr val="0E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452FEA6-4FFE-9349-F74A-7C3B87DE8D61}"/>
              </a:ext>
            </a:extLst>
          </p:cNvPr>
          <p:cNvSpPr/>
          <p:nvPr/>
        </p:nvSpPr>
        <p:spPr>
          <a:xfrm>
            <a:off x="571500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FE9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09BB214-A8DB-2F43-1E0C-48EC2733EEC0}"/>
              </a:ext>
            </a:extLst>
          </p:cNvPr>
          <p:cNvSpPr/>
          <p:nvPr/>
        </p:nvSpPr>
        <p:spPr>
          <a:xfrm>
            <a:off x="6446520" y="18653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intens studiata</a:t>
            </a: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85B7218-E53B-DFB8-99C3-DABDD76D9635}"/>
              </a:ext>
            </a:extLst>
          </p:cNvPr>
          <p:cNvSpPr/>
          <p:nvPr/>
        </p:nvSpPr>
        <p:spPr>
          <a:xfrm>
            <a:off x="6446520" y="2359152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Mainile robotice au aplicatii in medicina, industrie, protezare si chiar explorare spatiala.</a:t>
            </a:r>
            <a:endParaRPr lang="en-US" sz="13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47CB9C7-B238-EC1D-B60E-75A47DAB5758}"/>
              </a:ext>
            </a:extLst>
          </p:cNvPr>
          <p:cNvSpPr/>
          <p:nvPr/>
        </p:nvSpPr>
        <p:spPr>
          <a:xfrm>
            <a:off x="5715000" y="3246120"/>
            <a:ext cx="566928" cy="566928"/>
          </a:xfrm>
          <a:prstGeom prst="ellipse">
            <a:avLst/>
          </a:prstGeom>
          <a:solidFill>
            <a:srgbClr val="0E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1BA6064-12D5-204A-7E7C-D4433EB85B06}"/>
              </a:ext>
            </a:extLst>
          </p:cNvPr>
          <p:cNvSpPr/>
          <p:nvPr/>
        </p:nvSpPr>
        <p:spPr>
          <a:xfrm>
            <a:off x="571500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FE9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3268EE2-FF4B-E096-3DED-E2C8DD7B6206}"/>
              </a:ext>
            </a:extLst>
          </p:cNvPr>
          <p:cNvSpPr/>
          <p:nvPr/>
        </p:nvSpPr>
        <p:spPr>
          <a:xfrm>
            <a:off x="6446520" y="31912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Provocarea reala e in software</a:t>
            </a:r>
            <a:endParaRPr lang="en-US" sz="17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6EB11B6-AD26-85DF-F913-A4BE19F0EFDE}"/>
              </a:ext>
            </a:extLst>
          </p:cNvPr>
          <p:cNvSpPr/>
          <p:nvPr/>
        </p:nvSpPr>
        <p:spPr>
          <a:xfrm>
            <a:off x="6446520" y="3685032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Designurile simple se opresc la mecanica; saltul de performanta cere control in timp real si o arhitectura solida.</a:t>
            </a:r>
            <a:endParaRPr lang="en-US" sz="13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D6C9EF2-00CE-93A0-3292-0EC6EE1E387A}"/>
              </a:ext>
            </a:extLst>
          </p:cNvPr>
          <p:cNvSpPr/>
          <p:nvPr/>
        </p:nvSpPr>
        <p:spPr>
          <a:xfrm>
            <a:off x="5715000" y="4572000"/>
            <a:ext cx="566928" cy="566928"/>
          </a:xfrm>
          <a:prstGeom prst="ellipse">
            <a:avLst/>
          </a:prstGeom>
          <a:solidFill>
            <a:srgbClr val="0E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79E64C1-6B98-9EC5-ED2B-B999CB374754}"/>
              </a:ext>
            </a:extLst>
          </p:cNvPr>
          <p:cNvSpPr/>
          <p:nvPr/>
        </p:nvSpPr>
        <p:spPr>
          <a:xfrm>
            <a:off x="5715000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FE9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AF5752E-6B94-4607-DEF1-D82B1C373DC9}"/>
              </a:ext>
            </a:extLst>
          </p:cNvPr>
          <p:cNvSpPr/>
          <p:nvPr/>
        </p:nvSpPr>
        <p:spPr>
          <a:xfrm>
            <a:off x="6446520" y="451713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Accesibila si unui student</a:t>
            </a:r>
            <a:endParaRPr lang="en-US" sz="17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39C0893-461B-2F49-DF47-EF6ED4F60B23}"/>
              </a:ext>
            </a:extLst>
          </p:cNvPr>
          <p:cNvSpPr/>
          <p:nvPr/>
        </p:nvSpPr>
        <p:spPr>
          <a:xfrm>
            <a:off x="6446520" y="5010912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Proiectul demonstreaza ca tema poate fi abordata printr-o integrare atenta hardware–software.</a:t>
            </a:r>
            <a:endParaRPr lang="en-US" sz="13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709546F-6109-8834-73F9-596F2F78CA2B}"/>
              </a:ext>
            </a:extLst>
          </p:cNvPr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robotica controlata web  ·  Mihai Albu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E1484DE-1E93-9333-10F2-F1E2FC0BF477}"/>
              </a:ext>
            </a:extLst>
          </p:cNvPr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80254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B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PRIVIRE DE ANSAMBLU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 functioneaza: de la browser la miscare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574749" cy="1371600"/>
          </a:xfrm>
          <a:prstGeom prst="roundRect">
            <a:avLst>
              <a:gd name="adj" fmla="val 5333"/>
            </a:avLst>
          </a:prstGeom>
          <a:solidFill>
            <a:srgbClr val="11A39A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441448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898648"/>
            <a:ext cx="1483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Interfata web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6541" y="21488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07437" y="2148840"/>
            <a:ext cx="1574749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53157" y="2441448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async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553157" y="2898648"/>
            <a:ext cx="1483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0 · Wi-Fi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3898" y="21488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74794" y="2148840"/>
            <a:ext cx="1574749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20514" y="2441448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Coada FreeRTOS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20514" y="2898648"/>
            <a:ext cx="1483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sigur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31256" y="21488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42152" y="2148840"/>
            <a:ext cx="1574749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87872" y="2441448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servo_task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87872" y="2898648"/>
            <a:ext cx="1483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98613" y="21488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109509" y="2148840"/>
            <a:ext cx="1574749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55229" y="2441448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PCA9685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155229" y="2898648"/>
            <a:ext cx="1483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via I2C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65970" y="21488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976866" y="2148840"/>
            <a:ext cx="1574749" cy="1371600"/>
          </a:xfrm>
          <a:prstGeom prst="roundRect">
            <a:avLst>
              <a:gd name="adj" fmla="val 5333"/>
            </a:avLst>
          </a:prstGeom>
          <a:solidFill>
            <a:srgbClr val="E87A2C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22586" y="2441448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Servomotoare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0022586" y="2898648"/>
            <a:ext cx="1483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miscarea mainii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114800"/>
            <a:ext cx="3393338" cy="1691640"/>
          </a:xfrm>
          <a:prstGeom prst="roundRect">
            <a:avLst>
              <a:gd name="adj" fmla="val 4865"/>
            </a:avLst>
          </a:prstGeom>
          <a:solidFill>
            <a:srgbClr val="E2ECEC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0080" y="4114800"/>
            <a:ext cx="109728" cy="1691640"/>
          </a:xfrm>
          <a:prstGeom prst="rect">
            <a:avLst/>
          </a:prstGeom>
          <a:solidFill>
            <a:srgbClr val="11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0120" y="4389120"/>
            <a:ext cx="2936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7E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+ 6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960120" y="5138928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degete actionate de 6 servomotoare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99178" y="4114800"/>
            <a:ext cx="3393338" cy="1691640"/>
          </a:xfrm>
          <a:prstGeom prst="roundRect">
            <a:avLst>
              <a:gd name="adj" fmla="val 4865"/>
            </a:avLst>
          </a:prstGeom>
          <a:solidFill>
            <a:srgbClr val="E2ECEC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399178" y="4114800"/>
            <a:ext cx="109728" cy="1691640"/>
          </a:xfrm>
          <a:prstGeom prst="rect">
            <a:avLst/>
          </a:prstGeom>
          <a:solidFill>
            <a:srgbClr val="11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19218" y="4389120"/>
            <a:ext cx="2936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7E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nuclee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4719218" y="5138928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retea si hardware complet separate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158277" y="4114800"/>
            <a:ext cx="3393338" cy="1691640"/>
          </a:xfrm>
          <a:prstGeom prst="roundRect">
            <a:avLst>
              <a:gd name="adj" fmla="val 4865"/>
            </a:avLst>
          </a:prstGeom>
          <a:solidFill>
            <a:srgbClr val="E2ECEC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158277" y="4114800"/>
            <a:ext cx="109728" cy="1691640"/>
          </a:xfrm>
          <a:prstGeom prst="rect">
            <a:avLst/>
          </a:prstGeom>
          <a:solidFill>
            <a:srgbClr val="11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478317" y="4389120"/>
            <a:ext cx="2936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7E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instalari</a:t>
            </a:r>
            <a:endParaRPr lang="en-US" sz="3800" dirty="0"/>
          </a:p>
        </p:txBody>
      </p:sp>
      <p:sp>
        <p:nvSpPr>
          <p:cNvPr id="38" name="Text 36"/>
          <p:cNvSpPr/>
          <p:nvPr/>
        </p:nvSpPr>
        <p:spPr>
          <a:xfrm>
            <a:off x="8478317" y="5138928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din orice browser, fara aplicatii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robotica controlata web  ·  Mihai Albu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B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· PASUL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 mecanica: mana si antebratul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74375" y="475488"/>
            <a:ext cx="566928" cy="566928"/>
          </a:xfrm>
          <a:prstGeom prst="ellipse">
            <a:avLst/>
          </a:prstGeom>
          <a:solidFill>
            <a:srgbClr val="11A39A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74375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257800" cy="3990022"/>
          </a:xfrm>
          <a:prstGeom prst="roundRect">
            <a:avLst>
              <a:gd name="adj" fmla="val 2292"/>
            </a:avLst>
          </a:prstGeom>
          <a:solidFill>
            <a:srgbClr val="EEF3F6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C:\Users\Lenovo\Documents\Web-Controller-Robotic-Hand\data\resources\Hand_model_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5074920" cy="38071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4683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Ansamblu printat 3D cu locasul servomotoarelor in antebrat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26480" y="2157984"/>
            <a:ext cx="128016" cy="566928"/>
          </a:xfrm>
          <a:prstGeom prst="rect">
            <a:avLst/>
          </a:prstGeom>
          <a:solidFill>
            <a:srgbClr val="E87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46520" y="2103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Schelet printat 3D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446520" y="252374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si antebrat cu cinci degete articulate.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3209544"/>
            <a:ext cx="128016" cy="566928"/>
          </a:xfrm>
          <a:prstGeom prst="rect">
            <a:avLst/>
          </a:prstGeom>
          <a:solidFill>
            <a:srgbClr val="E87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46520" y="3154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 </a:t>
            </a:r>
            <a:r>
              <a:rPr lang="en-US" sz="1650" b="1" dirty="0" err="1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servomotoare</a:t>
            </a:r>
            <a:r>
              <a:rPr lang="en-US" sz="16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6446520" y="357530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Cinci degete + un servo suplimentar pentru police.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26480" y="4261104"/>
            <a:ext cx="128016" cy="566928"/>
          </a:xfrm>
          <a:prstGeom prst="rect">
            <a:avLst/>
          </a:prstGeom>
          <a:solidFill>
            <a:srgbClr val="E87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46520" y="4206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Actionare prin tendoane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446520" y="462686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de nylon si elastic transmit miscarea catre falange.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26480" y="5312664"/>
            <a:ext cx="128016" cy="566928"/>
          </a:xfrm>
          <a:prstGeom prst="rect">
            <a:avLst/>
          </a:prstGeom>
          <a:solidFill>
            <a:srgbClr val="E87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46520" y="5257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grade de libertate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446520" y="567842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deget este controlat individual.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robotica controlata web  ·  Mihai Albu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B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· PASUL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GPIO direct la PCA9685 prin I2C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74375" y="475488"/>
            <a:ext cx="566928" cy="566928"/>
          </a:xfrm>
          <a:prstGeom prst="ellipse">
            <a:avLst/>
          </a:prstGeom>
          <a:solidFill>
            <a:srgbClr val="11A39A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74375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983480" cy="3200400"/>
          </a:xfrm>
          <a:prstGeom prst="roundRect">
            <a:avLst>
              <a:gd name="adj" fmla="val 2571"/>
            </a:avLst>
          </a:prstGeom>
          <a:solidFill>
            <a:srgbClr val="EEF3F6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INAINTE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direct din pinii GPIO</a:t>
            </a:r>
            <a:endParaRPr lang="en-US" sz="1650" dirty="0"/>
          </a:p>
        </p:txBody>
      </p:sp>
      <p:pic>
        <p:nvPicPr>
          <p:cNvPr id="9" name="Image 0" descr="C:\Users\Lenovo\Documents\Web-Controller-Robotic-Hand\data\resources\esp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154680"/>
            <a:ext cx="1371600" cy="1828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320040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servo cablat la cate un pin GPIO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Cablaj dens, multi pini ocupati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Ajustari repetate de pinout (22 → 17)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87568" y="3200400"/>
            <a:ext cx="822960" cy="822960"/>
          </a:xfrm>
          <a:prstGeom prst="ellipse">
            <a:avLst/>
          </a:prstGeom>
          <a:solidFill>
            <a:srgbClr val="11A39A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687568" y="3154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6565392" y="2011680"/>
            <a:ext cx="4983480" cy="3200400"/>
          </a:xfrm>
          <a:prstGeom prst="roundRect">
            <a:avLst>
              <a:gd name="adj" fmla="val 2571"/>
            </a:avLst>
          </a:prstGeom>
          <a:solidFill>
            <a:srgbClr val="0E1B2A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85432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85432" y="25603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PCA9685 pe magistrala I2C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885432" y="320040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canale PWM pe doar 2 fire (SDA 21 = </a:t>
            </a:r>
            <a:r>
              <a:rPr lang="en-US" sz="1350" dirty="0" err="1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</a:t>
            </a: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date / SCL 22 = </a:t>
            </a:r>
            <a:r>
              <a:rPr lang="en-US" sz="1350" dirty="0" err="1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</a:t>
            </a: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50" dirty="0" err="1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ceas</a:t>
            </a: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350" dirty="0" err="1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protocolul</a:t>
            </a: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</a:t>
            </a: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care ESP32 “</a:t>
            </a:r>
            <a:r>
              <a:rPr lang="en-US" sz="1350" dirty="0" err="1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vorbeste</a:t>
            </a: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cu </a:t>
            </a:r>
            <a:r>
              <a:rPr lang="en-US" sz="1350" dirty="0" err="1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driverul</a:t>
            </a: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PCA9685)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 GPIO eliberati pentru extinderi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Semnal PWM hardware, stabil si precis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Toate cele 6 servo conduse independent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544068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BEAD9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40080" y="5440680"/>
            <a:ext cx="128016" cy="868680"/>
          </a:xfrm>
          <a:prstGeom prst="rect">
            <a:avLst/>
          </a:prstGeom>
          <a:solidFill>
            <a:srgbClr val="E87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05840" y="544068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A4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rezolvata pe parcurs:  </a:t>
            </a:r>
            <a:r>
              <a:rPr lang="en-US" sz="13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pornirea simultana a celor 6 servo provoca brownout (resetarea ESP32) → solutie: secventiere temporala de 5–10 ms intre motoare.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robotica controlata web  ·  Mihai Albu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· PASUL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Arhitectura concurenta pe doua nuclee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74375" y="475488"/>
            <a:ext cx="566928" cy="566928"/>
          </a:xfrm>
          <a:prstGeom prst="ellipse">
            <a:avLst/>
          </a:prstGeom>
          <a:solidFill>
            <a:srgbClr val="11A39A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74375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4160520" cy="3246120"/>
          </a:xfrm>
          <a:prstGeom prst="roundRect">
            <a:avLst>
              <a:gd name="adj" fmla="val 2535"/>
            </a:avLst>
          </a:prstGeom>
          <a:solidFill>
            <a:srgbClr val="16293C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4160520" cy="109728"/>
          </a:xfrm>
          <a:prstGeom prst="rect">
            <a:avLst/>
          </a:prstGeom>
          <a:solidFill>
            <a:srgbClr val="11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1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7157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Retea &amp; receptie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33756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Stiva Wi-Fi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web asincron (AsyncWebServer)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Parseaza cererile si raspunde instant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120640" y="2377440"/>
            <a:ext cx="1950415" cy="2606040"/>
          </a:xfrm>
          <a:prstGeom prst="roundRect">
            <a:avLst>
              <a:gd name="adj" fmla="val 4688"/>
            </a:avLst>
          </a:prstGeom>
          <a:solidFill>
            <a:srgbClr val="11A39A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20640" y="2697480"/>
            <a:ext cx="1950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COZI FreeRTOS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20640" y="3108960"/>
            <a:ext cx="1950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gestureQueue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fingerQueue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57800" y="3931920"/>
            <a:ext cx="1676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08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sigur intre nuclee:  char[32] / struct copiate cu memcpy (fara String)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91095" y="2057400"/>
            <a:ext cx="4160520" cy="3246120"/>
          </a:xfrm>
          <a:prstGeom prst="roundRect">
            <a:avLst>
              <a:gd name="adj" fmla="val 2535"/>
            </a:avLst>
          </a:prstGeom>
          <a:solidFill>
            <a:srgbClr val="16293C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91095" y="2057400"/>
            <a:ext cx="4160520" cy="109728"/>
          </a:xfrm>
          <a:prstGeom prst="rect">
            <a:avLst/>
          </a:prstGeom>
          <a:solidFill>
            <a:srgbClr val="E87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11135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11135" y="27157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Executie hardware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11135" y="333756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servo_task — singura sarcina activa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Genereaza comenzile catre servo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 interferente din retea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55778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  </a:t>
            </a:r>
            <a:r>
              <a:rPr lang="en-US" sz="1400" dirty="0">
                <a:solidFill>
                  <a:srgbClr val="8F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raspuns rapid, fara conditii de cursa (race conditions) la accesul memoriei.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robotica controlata web  ·  Mihai Albu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B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· PASUL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Inovatia software: miscare non-blocanta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74375" y="475488"/>
            <a:ext cx="566928" cy="566928"/>
          </a:xfrm>
          <a:prstGeom prst="ellipse">
            <a:avLst/>
          </a:prstGeom>
          <a:solidFill>
            <a:srgbClr val="11A39A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74375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983480" cy="3108960"/>
          </a:xfrm>
          <a:prstGeom prst="roundRect">
            <a:avLst>
              <a:gd name="adj" fmla="val 2647"/>
            </a:avLst>
          </a:prstGeom>
          <a:solidFill>
            <a:srgbClr val="EEF3F6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INAINTE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Gesturi cu delay() blocant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0120" y="315468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Task-ul ramanea blocat pana la ~300 ms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Interfata web ingheta in timpul animatiei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Miscari sacadate, dependente de retea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87568" y="3154680"/>
            <a:ext cx="822960" cy="822960"/>
          </a:xfrm>
          <a:prstGeom prst="ellipse">
            <a:avLst/>
          </a:prstGeom>
          <a:solidFill>
            <a:srgbClr val="11A39A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87568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565392" y="2011680"/>
            <a:ext cx="4983480" cy="3108960"/>
          </a:xfrm>
          <a:prstGeom prst="roundRect">
            <a:avLst>
              <a:gd name="adj" fmla="val 2647"/>
            </a:avLst>
          </a:prstGeom>
          <a:solidFill>
            <a:srgbClr val="0E1B2A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85432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85432" y="25603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Masina de stari finite (FSM)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885432" y="315468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update_gesture() apelat la fiecare 8 ms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Interpolare in pasi mici de 3°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eliberat intre pasi (vTaskDelay)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Animatii lungi fara a bloca sistemul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E2ECEC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534924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Rezultat:  </a:t>
            </a: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interfata mereu receptiva  ·  miscare fluida  ·  ~480 ms pentru cursa completa a unui deget.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robotica controlata web  ·  Mihai Albu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B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· PASUL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Interfata web si comunicarea in timp real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74375" y="475488"/>
            <a:ext cx="566928" cy="566928"/>
          </a:xfrm>
          <a:prstGeom prst="ellipse">
            <a:avLst/>
          </a:prstGeom>
          <a:solidFill>
            <a:srgbClr val="11A39A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74375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28016" cy="548640"/>
          </a:xfrm>
          <a:prstGeom prst="rect">
            <a:avLst/>
          </a:prstGeom>
          <a:solidFill>
            <a:srgbClr val="11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20574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gazduit pe ESP32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2688" y="245973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Pagini HTML / CSS / JS servite direct din memoria flash (LittleFS) — fara server extern.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36392"/>
            <a:ext cx="128016" cy="548640"/>
          </a:xfrm>
          <a:prstGeom prst="rect">
            <a:avLst/>
          </a:prstGeom>
          <a:solidFill>
            <a:srgbClr val="11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2688" y="30906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Comenzi prin fetch asincron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32688" y="349300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Slidere si butoane apeleaza rutele /finger si /gesture, fara reincarcarea paginii.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69664"/>
            <a:ext cx="128016" cy="548640"/>
          </a:xfrm>
          <a:prstGeom prst="rect">
            <a:avLst/>
          </a:prstGeom>
          <a:solidFill>
            <a:srgbClr val="11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2688" y="412394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gesturi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32688" y="45262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close, reset, peace, ok, hold, countU / countD.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202936"/>
            <a:ext cx="128016" cy="548640"/>
          </a:xfrm>
          <a:prstGeom prst="rect">
            <a:avLst/>
          </a:prstGeom>
          <a:solidFill>
            <a:srgbClr val="11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32688" y="515721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Conectare rezilienta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32688" y="555955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STA cu fallback Access Point «RobotHand-Setup»; acces rapid prin cod QR.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78040" y="2057400"/>
            <a:ext cx="4373575" cy="3657600"/>
          </a:xfrm>
          <a:prstGeom prst="roundRect">
            <a:avLst>
              <a:gd name="adj" fmla="val 2250"/>
            </a:avLst>
          </a:prstGeom>
          <a:solidFill>
            <a:srgbClr val="0E1B2A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78040" y="2057400"/>
            <a:ext cx="4373575" cy="502920"/>
          </a:xfrm>
          <a:prstGeom prst="rect">
            <a:avLst/>
          </a:prstGeom>
          <a:solidFill>
            <a:srgbClr val="162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06640" y="2249424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35240" y="2249424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863840" y="2249424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138160" y="2057400"/>
            <a:ext cx="3276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comunicatie frontend ↔ ESP32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0" y="2788920"/>
            <a:ext cx="37334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FB7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control direct al unui deget
</a:t>
            </a:r>
            <a:r>
              <a:rPr lang="en-US" sz="1300" dirty="0">
                <a:solidFill>
                  <a:srgbClr val="7FD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2B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'/finger?finger=index&amp;angle=90'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300" dirty="0">
                <a:solidFill>
                  <a:srgbClr val="8FB7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declanseaza un gest predefinit
</a:t>
            </a:r>
            <a:r>
              <a:rPr lang="en-US" sz="1300" dirty="0">
                <a:solidFill>
                  <a:srgbClr val="7FD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2B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'/gesture?name=peace'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0" y="4983480"/>
            <a:ext cx="3733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r>
              <a:rPr lang="en-US" sz="12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comanda intra in coada, raspuns imediat catre browser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robotica controlata web  ·  Mihai Albu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B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Testare si rezultate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487854" cy="1554480"/>
          </a:xfrm>
          <a:prstGeom prst="roundRect">
            <a:avLst>
              <a:gd name="adj" fmla="val 5294"/>
            </a:avLst>
          </a:prstGeom>
          <a:solidFill>
            <a:srgbClr val="EEF3F6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487854" cy="91440"/>
          </a:xfrm>
          <a:prstGeom prst="rect">
            <a:avLst/>
          </a:prstGeom>
          <a:solidFill>
            <a:srgbClr val="0B7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221992"/>
            <a:ext cx="22135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B7E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10–25 ms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3049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latenta /finger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(end-to-end)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47974" y="1965960"/>
            <a:ext cx="2487854" cy="1554480"/>
          </a:xfrm>
          <a:prstGeom prst="roundRect">
            <a:avLst>
              <a:gd name="adj" fmla="val 5294"/>
            </a:avLst>
          </a:prstGeom>
          <a:solidFill>
            <a:srgbClr val="EEF3F6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47974" y="1965960"/>
            <a:ext cx="2487854" cy="91440"/>
          </a:xfrm>
          <a:prstGeom prst="rect">
            <a:avLst/>
          </a:prstGeom>
          <a:solidFill>
            <a:srgbClr val="0B7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85134" y="2221992"/>
            <a:ext cx="22135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B7E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20–30 ms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3539414" y="2880360"/>
            <a:ext cx="23049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latenta /gesture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 FSM)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55868" y="1965960"/>
            <a:ext cx="2487854" cy="1554480"/>
          </a:xfrm>
          <a:prstGeom prst="roundRect">
            <a:avLst>
              <a:gd name="adj" fmla="val 5294"/>
            </a:avLst>
          </a:prstGeom>
          <a:solidFill>
            <a:srgbClr val="EEF3F6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55868" y="1965960"/>
            <a:ext cx="2487854" cy="91440"/>
          </a:xfrm>
          <a:prstGeom prst="rect">
            <a:avLst/>
          </a:prstGeom>
          <a:solidFill>
            <a:srgbClr val="0E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93028" y="2221992"/>
            <a:ext cx="22135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E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50 ms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6347308" y="2880360"/>
            <a:ext cx="23049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 de perceptie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vizuala umana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63761" y="1965960"/>
            <a:ext cx="2487854" cy="1554480"/>
          </a:xfrm>
          <a:prstGeom prst="roundRect">
            <a:avLst>
              <a:gd name="adj" fmla="val 5294"/>
            </a:avLst>
          </a:prstGeom>
          <a:solidFill>
            <a:srgbClr val="EEF3F6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063761" y="1965960"/>
            <a:ext cx="2487854" cy="91440"/>
          </a:xfrm>
          <a:prstGeom prst="rect">
            <a:avLst/>
          </a:prstGeom>
          <a:solidFill>
            <a:srgbClr val="E87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00921" y="2221992"/>
            <a:ext cx="22135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E87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 m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9155201" y="2880360"/>
            <a:ext cx="23049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raza Wi-Fi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interior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Latenta end-to-end vs. prag de perceptie (ms)</a:t>
            </a:r>
            <a:endParaRPr lang="en-US" sz="125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640080" y="4114800"/>
          <a:ext cx="566928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6583680" y="3794760"/>
            <a:ext cx="4967935" cy="2468880"/>
          </a:xfrm>
          <a:prstGeom prst="roundRect">
            <a:avLst>
              <a:gd name="adj" fmla="val 3333"/>
            </a:avLst>
          </a:prstGeom>
          <a:solidFill>
            <a:srgbClr val="E2ECEC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903720" y="3977640"/>
            <a:ext cx="4327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Robustete sub stres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6903720" y="4480560"/>
            <a:ext cx="43278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Protectie la suprasarcina: coada plina → HTTP 500 «Queue full», fara blocaje sau memory leak.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Stabilitate Wi-Fi pe sesiuni de 15–30 min, fara deconectari (WiFi.setSleep(false)).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Toleranta la defecte: comutare automata in mod Access Point la pierderea retelei.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robotica controlata web  ·  Mihai Albu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INCHIDERE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6809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Concluzii si directii viitoare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1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integrat HW</a:t>
            </a:r>
            <a:r>
              <a:rPr lang="en-US" sz="150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–SW </a:t>
            </a:r>
            <a:r>
              <a:rPr lang="en-US" sz="15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si scalabil.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prin separarea dual-core + cozi FreeRTOS.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non-blocanta elimina blocajele si fenomenul de brownout.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Latenta sub pragul perceptibil → experienta fluida.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150815" cy="3749040"/>
          </a:xfrm>
          <a:prstGeom prst="roundRect">
            <a:avLst>
              <a:gd name="adj" fmla="val 2195"/>
            </a:avLst>
          </a:prstGeom>
          <a:solidFill>
            <a:srgbClr val="16293C"/>
          </a:solidFill>
          <a:ln/>
          <a:effectLst>
            <a:outerShdw blurRad="114300" dist="38100" dir="7200000" algn="bl" rotWithShape="0">
              <a:srgbClr val="0E1B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150815" cy="109728"/>
          </a:xfrm>
          <a:prstGeom prst="rect">
            <a:avLst/>
          </a:prstGeom>
          <a:solidFill>
            <a:srgbClr val="E87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665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DIRECTII VIITOARE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0" y="2697480"/>
            <a:ext cx="441929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cu telemetrie in timp real (pozitie, curent, forta).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Senzori de presiune FSR pentru feedback haptic adaptiv.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 err="1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Executarea</a:t>
            </a:r>
            <a:r>
              <a:rPr lang="en-US" sz="14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servo_task</a:t>
            </a:r>
            <a:r>
              <a:rPr lang="en-US" sz="14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</a:t>
            </a:r>
            <a:r>
              <a:rPr lang="en-US" sz="1400" dirty="0" err="1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</a:t>
            </a:r>
            <a:r>
              <a:rPr lang="en-US" sz="14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ISR nu </a:t>
            </a:r>
            <a:r>
              <a:rPr lang="en-US" sz="1400" dirty="0" err="1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</a:t>
            </a:r>
            <a:r>
              <a:rPr lang="en-US" sz="14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polling.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AI / LLM pentru comenzi in limbaj natural.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7A69C-DD29-84CA-6975-9FA6B4DAA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E5BCB0-6A56-1F1D-59C5-E5EA291DC06F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1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6D9A6C9-B6E9-4009-0DE4-1B07FFF0B03C}"/>
              </a:ext>
            </a:extLst>
          </p:cNvPr>
          <p:cNvSpPr/>
          <p:nvPr/>
        </p:nvSpPr>
        <p:spPr>
          <a:xfrm>
            <a:off x="-1005840" y="-1005840"/>
            <a:ext cx="2377440" cy="2377440"/>
          </a:xfrm>
          <a:prstGeom prst="ellipse">
            <a:avLst/>
          </a:prstGeom>
          <a:solidFill>
            <a:srgbClr val="162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52B4366-7583-B900-4E37-BB7A2971E727}"/>
              </a:ext>
            </a:extLst>
          </p:cNvPr>
          <p:cNvSpPr/>
          <p:nvPr/>
        </p:nvSpPr>
        <p:spPr>
          <a:xfrm>
            <a:off x="1096000" y="2560320"/>
            <a:ext cx="100000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 </a:t>
            </a:r>
            <a:r>
              <a:rPr lang="en-US" sz="4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multumesc</a:t>
            </a: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4400" dirty="0"/>
          </a:p>
        </p:txBody>
      </p:sp>
      <p:sp>
        <p:nvSpPr>
          <p:cNvPr id="20" name="Text Kicker"/>
          <p:cNvSpPr/>
          <p:nvPr/>
        </p:nvSpPr>
        <p:spPr>
          <a:xfrm>
            <a:off x="1096000" y="2103120"/>
            <a:ext cx="100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LUCRARE DE LICENTA · 2026</a:t>
            </a:r>
            <a:endParaRPr lang="en-US" sz="1200" dirty="0"/>
          </a:p>
        </p:txBody>
      </p:sp>
      <p:sp>
        <p:nvSpPr>
          <p:cNvPr id="21" name="Text Subtitle"/>
          <p:cNvSpPr/>
          <p:nvPr/>
        </p:nvSpPr>
        <p:spPr>
          <a:xfrm>
            <a:off x="2096000" y="3527928"/>
            <a:ext cx="80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F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Proiectarea si implementarea unei maini robotice controlate printr-o aplicatie web in timp real</a:t>
            </a:r>
            <a:endParaRPr lang="en-US" sz="1600" i="1" dirty="0"/>
          </a:p>
        </p:txBody>
      </p:sp>
      <p:sp>
        <p:nvSpPr>
          <p:cNvPr id="22" name="Text Divider"/>
          <p:cNvSpPr/>
          <p:nvPr/>
        </p:nvSpPr>
        <p:spPr>
          <a:xfrm>
            <a:off x="5822584" y="4218432"/>
            <a:ext cx="548640" cy="45720"/>
          </a:xfrm>
          <a:prstGeom prst="rect">
            <a:avLst/>
          </a:prstGeom>
          <a:solidFill>
            <a:srgbClr val="11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Author"/>
          <p:cNvSpPr/>
          <p:nvPr/>
        </p:nvSpPr>
        <p:spPr>
          <a:xfrm>
            <a:off x="2096000" y="4419600"/>
            <a:ext cx="800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Mihai Albu</a:t>
            </a:r>
            <a:r>
              <a:rPr lang="en-US" sz="150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Coordonator stiintific: Lect. univ. dr. Maria Flori</a:t>
            </a:r>
            <a:endParaRPr lang="en-US" sz="1500" dirty="0"/>
          </a:p>
        </p:txBody>
      </p:sp>
      <p:sp>
        <p:nvSpPr>
          <p:cNvPr id="24" name="Text University"/>
          <p:cNvSpPr/>
          <p:nvPr/>
        </p:nvSpPr>
        <p:spPr>
          <a:xfrm>
            <a:off x="2096000" y="4876800"/>
            <a:ext cx="80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Universitatea „Lucian Blaga” din Sibiu  ·  Facultatea de Stiinte  ·  Informatica</a:t>
            </a:r>
            <a:endParaRPr lang="en-US" sz="11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7C1802-1480-DA1C-61A3-A09CC6A5F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950" y="5486400"/>
            <a:ext cx="2402100" cy="43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983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1164</Words>
  <Application>Microsoft Office PowerPoint</Application>
  <PresentationFormat>Widescreen</PresentationFormat>
  <Paragraphs>200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 robotica controlata web</dc:title>
  <dc:subject>PptxGenJS Presentation</dc:subject>
  <dc:creator>Mihai Albu</dc:creator>
  <cp:lastModifiedBy>Mihai Albu</cp:lastModifiedBy>
  <cp:revision>10</cp:revision>
  <dcterms:created xsi:type="dcterms:W3CDTF">2026-06-22T12:43:08Z</dcterms:created>
  <dcterms:modified xsi:type="dcterms:W3CDTF">2026-07-07T06:20:26Z</dcterms:modified>
</cp:coreProperties>
</file>