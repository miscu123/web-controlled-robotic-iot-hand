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1A39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44-4B94-9230-BC5C5E83D4C6}"/>
              </c:ext>
            </c:extLst>
          </c:dPt>
          <c:dPt>
            <c:idx val="1"/>
            <c:invertIfNegative val="0"/>
            <c:bubble3D val="0"/>
            <c:spPr>
              <a:solidFill>
                <a:srgbClr val="0B7E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44-4B94-9230-BC5C5E83D4C6}"/>
              </c:ext>
            </c:extLst>
          </c:dPt>
          <c:dPt>
            <c:idx val="2"/>
            <c:invertIfNegative val="0"/>
            <c:bubble3D val="0"/>
            <c:spPr>
              <a:solidFill>
                <a:srgbClr val="C2CC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344-4B94-9230-BC5C5E83D4C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0E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/finger</c:v>
                </c:pt>
                <c:pt idx="1">
                  <c:v>/gesture</c:v>
                </c:pt>
                <c:pt idx="2">
                  <c:v>prag uman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344-4B94-9230-BC5C5E83D4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6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714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3" name="Shape 1"/>
          <p:cNvSpPr/>
          <p:nvPr/>
        </p:nvSpPr>
        <p:spPr>
          <a:xfrm>
            <a:off x="-1005840" y="-1005840"/>
            <a:ext cx="2377440" cy="2377440"/>
          </a:xfrm>
          <a:prstGeom prst="ellipse">
            <a:avLst/>
          </a:prstGeom>
          <a:solidFill>
            <a:srgbClr val="16293C"/>
          </a:solidFill>
          <a:ln/>
        </p:spPr>
      </p:sp>
      <p:sp>
        <p:nvSpPr>
          <p:cNvPr id="4" name="Shape 2"/>
          <p:cNvSpPr/>
          <p:nvPr/>
        </p:nvSpPr>
        <p:spPr>
          <a:xfrm>
            <a:off x="6705295" y="1647963"/>
            <a:ext cx="5038344" cy="3836395"/>
          </a:xfrm>
          <a:prstGeom prst="roundRect">
            <a:avLst>
              <a:gd name="adj" fmla="val 2860"/>
            </a:avLst>
          </a:prstGeom>
          <a:solidFill>
            <a:srgbClr val="16293C"/>
          </a:solidFill>
          <a:ln w="19050">
            <a:solidFill>
              <a:srgbClr val="11A39A"/>
            </a:solidFill>
            <a:prstDash val="solid"/>
          </a:ln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pic>
        <p:nvPicPr>
          <p:cNvPr id="5" name="Image 0" descr="C:\Users\Lenovo\Documents\Web-Controller-Robotic-Hand\data\resources\Hand_model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167" y="1766835"/>
            <a:ext cx="4800600" cy="35986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05295" y="5530077"/>
            <a:ext cx="5038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Prototip: mana + antebrat printate 3D, 6× servo MG90S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77240" y="868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«LUCIAN BLAGA» DIN SIBIU  ·  FACULTATEA DE STIINTE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77240" y="141732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 robotica controlata</a:t>
            </a:r>
            <a:endParaRPr lang="en-US" sz="33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printr-o aplicatie web in timp real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77240" y="34290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Proiectarea si implementarea unui sistem integrat hardware–software pe ESP32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95528" y="4297680"/>
            <a:ext cx="1828800" cy="0"/>
          </a:xfrm>
          <a:prstGeom prst="line">
            <a:avLst/>
          </a:prstGeom>
          <a:noFill/>
          <a:ln w="31750">
            <a:solidFill>
              <a:srgbClr val="E87A2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262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Absolvent: 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Mihai Albu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Coordonator stiintific: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univ. dr. Maria Flori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Lucrare de licenta  ·  Informatica  ·  2025–2026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ACEASTA 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Motivatia alegerii temei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0" cy="3977640"/>
          </a:xfrm>
          <a:prstGeom prst="roundRect">
            <a:avLst>
              <a:gd name="adj" fmla="val 2069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Multe proiecte se concentreaza pe hardware, dar neglijeaza software-ul — la fel de important, daca nu chiar mai important.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51560" y="50749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observatia care a definit directia proiectului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15000" y="192024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</p:sp>
      <p:sp>
        <p:nvSpPr>
          <p:cNvPr id="9" name="Text 7"/>
          <p:cNvSpPr/>
          <p:nvPr/>
        </p:nvSpPr>
        <p:spPr>
          <a:xfrm>
            <a:off x="571500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46520" y="18653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intens studiata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35915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Mainile robotice au aplicatii in medicina, industrie, protezare si chiar explorare spatiala.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715000" y="324612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</p:sp>
      <p:sp>
        <p:nvSpPr>
          <p:cNvPr id="13" name="Text 11"/>
          <p:cNvSpPr/>
          <p:nvPr/>
        </p:nvSpPr>
        <p:spPr>
          <a:xfrm>
            <a:off x="571500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46520" y="31912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Provocarea reala e in software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Designurile simple se opresc la mecanica; saltul de performanta cere control in timp real si o arhitectura solida.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715000" y="457200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5715000" y="4572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451713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Accesibila si unui student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46520" y="50109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 demonstreaza ca tema poate fi abordata printr-o integrare atenta hardware–software.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PRIVIRE DE ANSAMBLU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 functioneaza: de la browser la miscare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6541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507437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53157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async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553157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0 · Wi-Fi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898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74794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20514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Coada FreeRTOS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20514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sigur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31256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42152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87872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servo_task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87872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98613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109509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55229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PCA9685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55229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via I2C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65970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976866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87A2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22586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Servomotoare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0022586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miscarea mainii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29" name="Text 27"/>
          <p:cNvSpPr/>
          <p:nvPr/>
        </p:nvSpPr>
        <p:spPr>
          <a:xfrm>
            <a:off x="960120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+ 6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60120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degete actionate de 6 servomotoare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99178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99178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33" name="Text 31"/>
          <p:cNvSpPr/>
          <p:nvPr/>
        </p:nvSpPr>
        <p:spPr>
          <a:xfrm>
            <a:off x="4719218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nuclee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4719218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retea si hardware complet separate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158277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58277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37" name="Text 35"/>
          <p:cNvSpPr/>
          <p:nvPr/>
        </p:nvSpPr>
        <p:spPr>
          <a:xfrm>
            <a:off x="8478317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instalari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8478317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din orice browser, fara aplicatii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· PASUL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 mecanica: mana si antebratul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57800" cy="3990022"/>
          </a:xfrm>
          <a:prstGeom prst="roundRect">
            <a:avLst>
              <a:gd name="adj" fmla="val 2292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pic>
        <p:nvPicPr>
          <p:cNvPr id="7" name="Image 0" descr="C:\Users\Lenovo\Documents\Web-Controller-Robotic-Hand\data\resources\Hand_model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5074920" cy="38071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683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Ansamblu printat 3D cu locasul servomotoarelor in antebrat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126480" y="215798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Schelet printat 3D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446520" y="252374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si antebrat cu cinci degete articulate.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320954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3154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 </a:t>
            </a:r>
            <a:r>
              <a:rPr lang="en-US" sz="1650" b="1" dirty="0" err="1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servomotoare</a:t>
            </a: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446520" y="357530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Cinci degete + un servo suplimentar pentru police.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26480" y="426110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4206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Actionare prin tendoane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6446520" y="46268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de nylon si elastic transmit miscarea catre falange.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26480" y="531266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5257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grade de libertate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6446520" y="567842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deget este controlat individual.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· PASUL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GPIO direct la PCA9685 prin I2C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83480" cy="3200400"/>
          </a:xfrm>
          <a:prstGeom prst="roundRect">
            <a:avLst>
              <a:gd name="adj" fmla="val 2571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INAINTE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direct din pinii GPIO</a:t>
            </a:r>
            <a:endParaRPr lang="en-US" sz="1650" dirty="0"/>
          </a:p>
        </p:txBody>
      </p:sp>
      <p:pic>
        <p:nvPicPr>
          <p:cNvPr id="9" name="Image 0" descr="C:\Users\Lenovo\Documents\Web-Controller-Robotic-Hand\data\resources\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154680"/>
            <a:ext cx="13716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20040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servo cablat la cate un pin GPIO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Cablaj dens, multi pini ocupati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Ajustari repetate de pinout (19 → 17)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87568" y="3200400"/>
            <a:ext cx="822960" cy="822960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687568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565392" y="2011680"/>
            <a:ext cx="4983480" cy="3200400"/>
          </a:xfrm>
          <a:prstGeom prst="roundRect">
            <a:avLst>
              <a:gd name="adj" fmla="val 2571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885432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85432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PCA9685 pe magistrala I2C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885432" y="320040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canale PWM pe doar 2 fire (SDA 21 / SCL 22)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 GPIO eliberati pentru extinderi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Semnal PWM hardware, stabil si precis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cele 6 servo conduse independent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54406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BEAD9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0080" y="5440680"/>
            <a:ext cx="128016" cy="868680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9" name="Text 16"/>
          <p:cNvSpPr/>
          <p:nvPr/>
        </p:nvSpPr>
        <p:spPr>
          <a:xfrm>
            <a:off x="1005840" y="544068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A4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rezolvata pe parcurs:  </a:t>
            </a:r>
            <a:r>
              <a:rPr lang="en-US" sz="1300" dirty="0">
                <a:solidFill>
                  <a:srgbClr val="7A4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pornirea simultana a celor 6 servo provoca brownout (resetarea ESP32) → solutie: secventiere temporala de 5–10 ms intre motoare.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Arhitectura concurenta pe doua nuclee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160520" cy="3246120"/>
          </a:xfrm>
          <a:prstGeom prst="roundRect">
            <a:avLst>
              <a:gd name="adj" fmla="val 253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4160520" cy="109728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715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Retea &amp; receptie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333756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Stiva Wi-Fi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web asincron (AsyncWebServer)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Parseaza cererile si raspunde instant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120640" y="2377440"/>
            <a:ext cx="1950415" cy="2606040"/>
          </a:xfrm>
          <a:prstGeom prst="roundRect">
            <a:avLst>
              <a:gd name="adj" fmla="val 4688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0" y="2697480"/>
            <a:ext cx="1950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COZI FreeRTOS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20640" y="3108960"/>
            <a:ext cx="1950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E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gestureQueue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E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fingerQueue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57800" y="3931920"/>
            <a:ext cx="1676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08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sigur intre nuclee:  char[32] / struct copiate cu memcpy (fara String)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91095" y="2057400"/>
            <a:ext cx="4160520" cy="3246120"/>
          </a:xfrm>
          <a:prstGeom prst="roundRect">
            <a:avLst>
              <a:gd name="adj" fmla="val 253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91095" y="2057400"/>
            <a:ext cx="4160520" cy="1097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7" name="Text 15"/>
          <p:cNvSpPr/>
          <p:nvPr/>
        </p:nvSpPr>
        <p:spPr>
          <a:xfrm>
            <a:off x="7711135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7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11135" y="2715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Executie hardware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11135" y="333756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servo_task — singura sarcina activa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Genereaza comenzile catre servo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Fara interferente din retea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55778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  </a:t>
            </a:r>
            <a:r>
              <a:rPr lang="en-US" sz="14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raspuns rapid, fara conditii de cursa (race conditions) la accesul memoriei.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Inovatia software: miscare non-blocanta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83480" cy="3108960"/>
          </a:xfrm>
          <a:prstGeom prst="roundRect">
            <a:avLst>
              <a:gd name="adj" fmla="val 2647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INAINTE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Gesturi cu delay() blocant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Task-ul ramanea blocat pana la ~300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web ingheta in timpul animatiei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Miscari sacadate, dependente de retea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87568" y="3154680"/>
            <a:ext cx="822960" cy="822960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87568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565392" y="2011680"/>
            <a:ext cx="4983480" cy="3108960"/>
          </a:xfrm>
          <a:prstGeom prst="roundRect">
            <a:avLst>
              <a:gd name="adj" fmla="val 2647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85432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85432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Masina de stari finite (FSM)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85432" y="315468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update_gesture() apelat la fiecare 8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Interpolare in pasi mici de 3°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eliberat intre pasi (vTaskDelay)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Animatii lungi fara a bloca sistemul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3492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05840" y="534924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Rezultat:  </a:t>
            </a: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mereu receptiva  ·  miscare fluida  ·  ~480 ms pentru cursa completa a unui deget.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Interfata web si comunicarea in timp real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5740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gazduit pe ESP32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" y="24597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Pagini HTML / CSS / JS servite direct din memoria flash (LittleFS) — fara server extern.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0906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Comenzi prin fetch asincron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3493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Slidere si butoane apeleaza rutele /finger si /gesture, fara reincarcarea paginii.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412394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gesturi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32688" y="45262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reset, peace, ok, hold, countU / countD.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02936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15721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Conectare rezilienta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32688" y="555955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STA cu fallback Access Point «RobotHand-Setup»; acces rapid prin cod QR.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78040" y="2057400"/>
            <a:ext cx="4373575" cy="3657600"/>
          </a:xfrm>
          <a:prstGeom prst="roundRect">
            <a:avLst>
              <a:gd name="adj" fmla="val 2250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78040" y="2057400"/>
            <a:ext cx="4373575" cy="502920"/>
          </a:xfrm>
          <a:prstGeom prst="rect">
            <a:avLst/>
          </a:prstGeom>
          <a:solidFill>
            <a:srgbClr val="16293C"/>
          </a:solidFill>
          <a:ln/>
        </p:spPr>
      </p:sp>
      <p:sp>
        <p:nvSpPr>
          <p:cNvPr id="20" name="Shape 18"/>
          <p:cNvSpPr/>
          <p:nvPr/>
        </p:nvSpPr>
        <p:spPr>
          <a:xfrm>
            <a:off x="7406640" y="2249424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1" name="Shape 19"/>
          <p:cNvSpPr/>
          <p:nvPr/>
        </p:nvSpPr>
        <p:spPr>
          <a:xfrm>
            <a:off x="7635240" y="2249424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63840" y="2249424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057400"/>
            <a:ext cx="3276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comunicatie frontend ↔ ESP32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788920"/>
            <a:ext cx="37334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7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 direct al unui deget
</a:t>
            </a:r>
            <a:r>
              <a:rPr lang="en-US" sz="1300" dirty="0">
                <a:solidFill>
                  <a:srgbClr val="7FD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2B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'/finger?finger=index&amp;angle=90'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r>
              <a:rPr lang="en-US" sz="1300" dirty="0">
                <a:solidFill>
                  <a:srgbClr val="8FB7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declanseaza un gest predefinit
</a:t>
            </a:r>
            <a:r>
              <a:rPr lang="en-US" sz="1300" dirty="0">
                <a:solidFill>
                  <a:srgbClr val="7FD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2B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'/gesture?name=peace'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98080" y="4983480"/>
            <a:ext cx="3733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r>
              <a:rPr lang="en-US" sz="1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comanda intra in coada, raspuns imediat catre browser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Testare si rezultate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65960"/>
            <a:ext cx="2487854" cy="91440"/>
          </a:xfrm>
          <a:prstGeom prst="rect">
            <a:avLst/>
          </a:prstGeom>
          <a:solidFill>
            <a:srgbClr val="0B7E7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10–25 ms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/finger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(end-to-end)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47974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47974" y="1965960"/>
            <a:ext cx="2487854" cy="91440"/>
          </a:xfrm>
          <a:prstGeom prst="rect">
            <a:avLst/>
          </a:prstGeom>
          <a:solidFill>
            <a:srgbClr val="0B7E77"/>
          </a:solidFill>
          <a:ln/>
        </p:spPr>
      </p:sp>
      <p:sp>
        <p:nvSpPr>
          <p:cNvPr id="10" name="Text 8"/>
          <p:cNvSpPr/>
          <p:nvPr/>
        </p:nvSpPr>
        <p:spPr>
          <a:xfrm>
            <a:off x="3585134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ms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3539414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/gesture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 FSM)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5868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55868" y="1965960"/>
            <a:ext cx="2487854" cy="91440"/>
          </a:xfrm>
          <a:prstGeom prst="rect">
            <a:avLst/>
          </a:prstGeom>
          <a:solidFill>
            <a:srgbClr val="0E1B2A"/>
          </a:solidFill>
          <a:ln/>
        </p:spPr>
      </p:sp>
      <p:sp>
        <p:nvSpPr>
          <p:cNvPr id="14" name="Text 12"/>
          <p:cNvSpPr/>
          <p:nvPr/>
        </p:nvSpPr>
        <p:spPr>
          <a:xfrm>
            <a:off x="6393028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50 ms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347308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 de perceptie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vizuala umana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63761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63761" y="1965960"/>
            <a:ext cx="2487854" cy="91440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18" name="Text 16"/>
          <p:cNvSpPr/>
          <p:nvPr/>
        </p:nvSpPr>
        <p:spPr>
          <a:xfrm>
            <a:off x="9200921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E87A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 m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9155201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raza Wi-Fi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interior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3794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end-to-end vs. prag de perceptie (ms)</a:t>
            </a:r>
            <a:endParaRPr lang="en-US" sz="125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640080" y="4114800"/>
          <a:ext cx="56692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6583680" y="3794760"/>
            <a:ext cx="4967935" cy="2468880"/>
          </a:xfrm>
          <a:prstGeom prst="roundRect">
            <a:avLst>
              <a:gd name="adj" fmla="val 3333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903720" y="3977640"/>
            <a:ext cx="4327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Robustete sub stres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6903720" y="4480560"/>
            <a:ext cx="43278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Protectie la suprasarcina: coada plina → HTTP 500 «Queue full», fara blocaje sau memory leak.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Stabilitate Wi-Fi pe sesiuni de 15–30 min, fara deconectari (WiFi.setSleep(false)).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Toleranta la defecte: comutare automata in mod Access Point la pierderea retelei.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1A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INCHIDERE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Concluzii si directii viitoare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integrat HW–SW fezabil, robust si scalabil.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prin separarea dual-core + cozi FreeRTOS.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non-blocanta elimina blocajele si fenomenul de brownout.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sub pragul perceptibil → experienta fluida.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011680"/>
            <a:ext cx="5150815" cy="3749040"/>
          </a:xfrm>
          <a:prstGeom prst="roundRect">
            <a:avLst>
              <a:gd name="adj" fmla="val 219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0" y="2011680"/>
            <a:ext cx="5150815" cy="109728"/>
          </a:xfrm>
          <a:prstGeom prst="rect">
            <a:avLst/>
          </a:prstGeom>
          <a:solidFill>
            <a:srgbClr val="E87A2C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7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DIRECTII VIITOARE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2697480"/>
            <a:ext cx="44192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cu telemetrie in timp real (pozitie, curent, forta).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Senzori de presiune FSR pentru feedback haptic adaptiv.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prin semnale mioelectrice (EMG) de la utilizator.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 / LLM pentru comenzi in limbaj natural.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 multumesc!  ·  Mihai Albu  · 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992</Words>
  <Application>Microsoft Office PowerPoint</Application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 robotica controlata web</dc:title>
  <dc:subject>PptxGenJS Presentation</dc:subject>
  <dc:creator>Mihai Albu</dc:creator>
  <cp:lastModifiedBy>Mihai Albu</cp:lastModifiedBy>
  <cp:revision>2</cp:revision>
  <dcterms:created xsi:type="dcterms:W3CDTF">2026-06-22T12:43:08Z</dcterms:created>
  <dcterms:modified xsi:type="dcterms:W3CDTF">2026-06-22T12:50:52Z</dcterms:modified>
</cp:coreProperties>
</file>